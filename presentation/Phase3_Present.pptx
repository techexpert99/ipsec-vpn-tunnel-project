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ROOMAN TECHNOLOGIES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Internship Program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Present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an IPSec VPN Tunnel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4320" y="2240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Head Office &amp; Datacenter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74320" y="3474720"/>
            <a:ext cx="201168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38221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Nithin Nayaka V 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3474720"/>
            <a:ext cx="201168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0" y="38221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Packet Tracer 9.0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474720"/>
            <a:ext cx="201168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38221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3474720"/>
            <a:ext cx="201168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49440" y="38221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Present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18872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Project Matter?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8503920" cy="1005840"/>
          </a:xfrm>
          <a:prstGeom prst="rect">
            <a:avLst/>
          </a:prstGeom>
          <a:solidFill>
            <a:srgbClr val="1F3A5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transmit sensitive data — employee records, financial data, internal communications — over public networks. </a:t>
            </a:r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encryption, this data is exposed to interception, tampering, and unauthorized access.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606040" cy="1691640"/>
          </a:xfrm>
          <a:prstGeom prst="rect">
            <a:avLst/>
          </a:prstGeom>
          <a:solidFill>
            <a:srgbClr val="1F3A5F"/>
          </a:solidFill>
          <a:ln w="19050">
            <a:solidFill>
              <a:srgbClr val="FF6B6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697480"/>
            <a:ext cx="59436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33375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Sniffing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6850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unencrypted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in transit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91840" y="2606040"/>
            <a:ext cx="2606040" cy="1691640"/>
          </a:xfrm>
          <a:prstGeom prst="rect">
            <a:avLst/>
          </a:prstGeom>
          <a:solidFill>
            <a:srgbClr val="1F3A5F"/>
          </a:solidFill>
          <a:ln w="19050">
            <a:solidFill>
              <a:srgbClr val="F4A26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69748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33375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 Attack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291840" y="36850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Intercepting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data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26480" y="2606040"/>
            <a:ext cx="2606040" cy="1691640"/>
          </a:xfrm>
          <a:prstGeom prst="rect">
            <a:avLst/>
          </a:prstGeom>
          <a:solidFill>
            <a:srgbClr val="1F3A5F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697480"/>
            <a:ext cx="594360" cy="59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33375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26480" y="36850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Exploiting unprotected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channels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Rooman Technologies  |  Cybersecurity Internship  |  Phase 3 — Present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IPSec Site-to-Site VPN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3840480" cy="3977640"/>
          </a:xfrm>
          <a:prstGeom prst="rect">
            <a:avLst/>
          </a:prstGeom>
          <a:solidFill>
            <a:srgbClr val="1F3A5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384048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229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 Phase 1 — Key Exchange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2618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AES-128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647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17647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2677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26771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Pre-Shared Key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7706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 Group: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277063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2735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32735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86400 sec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83480" y="804672"/>
            <a:ext cx="3840480" cy="3977640"/>
          </a:xfrm>
          <a:prstGeom prst="rect">
            <a:avLst/>
          </a:prstGeom>
          <a:solidFill>
            <a:srgbClr val="1F3A5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83480" y="804672"/>
            <a:ext cx="384048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8229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 Phase 2 — Data Encryption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1261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Set: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12618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17647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17647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ESP-AES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226771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22677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ESP-SHA-HMAC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4920" y="277063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27706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327355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Map: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32735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VPNMAP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06240" y="2468880"/>
            <a:ext cx="731520" cy="2286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0" y="230428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Rooman Technologies  |  Cybersecurity Internship  |  Phase 3 — Present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 — 15 Devices</a:t>
            </a:r>
            <a:endParaRPr lang="en-US" sz="2200" dirty="0"/>
          </a:p>
        </p:txBody>
      </p:sp>
      <p:pic>
        <p:nvPicPr>
          <p:cNvPr id="5" name="Image 0" descr="/mnt/user-data/uploads/Screenshot_2026-05-06_1630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859536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45537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Cisco 2911 Routers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514600" y="45537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Cisco 2960 Switches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09160" y="45537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PCs (5 per site)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903720" y="45537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Simulated ISP/Internet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Rooman Technologies  |  Cybersecurity Internship  |  Phase 3 — Present  |  Network Design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VPN Tunnel Verification</a:t>
            </a:r>
            <a:endParaRPr lang="en-US" sz="2200" dirty="0"/>
          </a:p>
        </p:txBody>
      </p:sp>
      <p:pic>
        <p:nvPicPr>
          <p:cNvPr id="5" name="Image 0" descr="/mnt/user-data/uploads/Screenshot_2026-05-06_1644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04672"/>
            <a:ext cx="850392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133088"/>
            <a:ext cx="8503920" cy="658368"/>
          </a:xfrm>
          <a:prstGeom prst="rect">
            <a:avLst/>
          </a:prstGeom>
          <a:solidFill>
            <a:srgbClr val="1F3A5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QM_IDLE  </a:t>
            </a:r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IKE Phase 1 ACTIVE  |  </a:t>
            </a:r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conn-id: 1090  |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Peer: 10.0.0.1 ↔ 10.0.0.6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Rooman Technologies  |  Cybersecurity Internship  |  Phase 3 — Present  |  Demo: Tunnel Status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IPSec SA &amp; Encrypted Packets</a:t>
            </a:r>
            <a:endParaRPr lang="en-US" sz="2200" dirty="0"/>
          </a:p>
        </p:txBody>
      </p:sp>
      <p:pic>
        <p:nvPicPr>
          <p:cNvPr id="5" name="Image 0" descr="/mnt/user-data/uploads/Screenshot_2026-05-06_16443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04672"/>
            <a:ext cx="850392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133088"/>
            <a:ext cx="2011680" cy="658368"/>
          </a:xfrm>
          <a:prstGeom prst="rect">
            <a:avLst/>
          </a:prstGeom>
          <a:solidFill>
            <a:srgbClr val="1F3A5F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15137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20040" y="44988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pkts encaps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68880" y="4133088"/>
            <a:ext cx="2011680" cy="658368"/>
          </a:xfrm>
          <a:prstGeom prst="rect">
            <a:avLst/>
          </a:prstGeom>
          <a:solidFill>
            <a:srgbClr val="1F3A5F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68880" y="415137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468880" y="44988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pkts encrypt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17720" y="4133088"/>
            <a:ext cx="2011680" cy="658368"/>
          </a:xfrm>
          <a:prstGeom prst="rect">
            <a:avLst/>
          </a:prstGeom>
          <a:solidFill>
            <a:srgbClr val="1F3A5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17720" y="415137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617720" y="44988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pkts decaps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766560" y="4133088"/>
            <a:ext cx="2011680" cy="658368"/>
          </a:xfrm>
          <a:prstGeom prst="rect">
            <a:avLst/>
          </a:prstGeom>
          <a:solidFill>
            <a:srgbClr val="1F3A5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415137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766560" y="44988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pkts decrypt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Rooman Technologies  |  Cybersecurity Internship  |  Phase 3 — Present  |  Demo: IPSec SA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End-to-End Connectivity (PC0 → DC)</a:t>
            </a:r>
            <a:endParaRPr lang="en-US" sz="2200" dirty="0"/>
          </a:p>
        </p:txBody>
      </p:sp>
      <p:pic>
        <p:nvPicPr>
          <p:cNvPr id="5" name="Image 0" descr="/mnt/user-data/uploads/Screenshot_2026-05-06_16414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04672"/>
            <a:ext cx="850392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133088"/>
            <a:ext cx="8503920" cy="658368"/>
          </a:xfrm>
          <a:prstGeom prst="rect">
            <a:avLst/>
          </a:prstGeom>
          <a:solidFill>
            <a:srgbClr val="0D2B1A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 (192.168.1.x)  →  ping 192.168.2.2 (Datacenter)  |  </a:t>
            </a:r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= 4,  Received = 4,  Lost = 0 (0% loss)  ✓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Rooman Technologies  |  Cybersecurity Internship  |  Phase 3 — Present  |  Demo: PC-to-PC Ping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 — IPSec Packet Visualization</a:t>
            </a:r>
            <a:endParaRPr lang="en-US" sz="2200" dirty="0"/>
          </a:p>
        </p:txBody>
      </p:sp>
      <p:pic>
        <p:nvPicPr>
          <p:cNvPr id="5" name="Image 0" descr="/mnt/user-data/uploads/Screenshot_2026-05-06_16404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859536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60857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(red) and ICMP (purple) packets visible — routers encrypt traffic before forwarding through the public network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Rooman Technologies  |  Cybersecurity Internship  |  Phase 3 — Present  |  Demo: Simulation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All Success Criteria Met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697480" cy="1600200"/>
          </a:xfrm>
          <a:prstGeom prst="rect">
            <a:avLst/>
          </a:prstGeom>
          <a:solidFill>
            <a:srgbClr val="1F3A5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2697480" cy="292608"/>
          </a:xfrm>
          <a:prstGeom prst="rect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412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 Phase 1 Tunnel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2161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QM_IDLE ACTIVE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" y="176479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conn-id 1090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804672"/>
            <a:ext cx="2697480" cy="1600200"/>
          </a:xfrm>
          <a:prstGeom prst="rect">
            <a:avLst/>
          </a:prstGeom>
          <a:solidFill>
            <a:srgbClr val="1F3A5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804672"/>
            <a:ext cx="2697480" cy="292608"/>
          </a:xfrm>
          <a:prstGeom prst="rect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8412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 Phase 2 SA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2161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ACTIVE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291840" y="176479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inbound &amp; outbound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804672"/>
            <a:ext cx="2697480" cy="1600200"/>
          </a:xfrm>
          <a:prstGeom prst="rect">
            <a:avLst/>
          </a:prstGeom>
          <a:solidFill>
            <a:srgbClr val="1F3A5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804672"/>
            <a:ext cx="2697480" cy="292608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8412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Applied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12161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pkts encrypt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172200" y="176479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ESP-AES Tunnel mode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633472"/>
            <a:ext cx="2697480" cy="1600200"/>
          </a:xfrm>
          <a:prstGeom prst="rect">
            <a:avLst/>
          </a:prstGeom>
          <a:solidFill>
            <a:srgbClr val="1F3A5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633472"/>
            <a:ext cx="2697480" cy="292608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6700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 Verified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0449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pkts decrypt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11480" y="359359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ESP-SHA-HMAC verified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633472"/>
            <a:ext cx="2697480" cy="1600200"/>
          </a:xfrm>
          <a:prstGeom prst="rect">
            <a:avLst/>
          </a:prstGeom>
          <a:solidFill>
            <a:srgbClr val="1F3A5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2633472"/>
            <a:ext cx="2697480" cy="292608"/>
          </a:xfrm>
          <a:prstGeom prst="rect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6700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PC-to-PC Ping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30449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Packet Loss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3291840" y="359359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 replies from DC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2633472"/>
            <a:ext cx="2697480" cy="1600200"/>
          </a:xfrm>
          <a:prstGeom prst="rect">
            <a:avLst/>
          </a:prstGeom>
          <a:solidFill>
            <a:srgbClr val="1F3A5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633472"/>
            <a:ext cx="2697480" cy="292608"/>
          </a:xfrm>
          <a:prstGeom prst="rect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6700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Router-to-Router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30449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(5/5)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172200" y="359359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HO-Router → 192.168.2.2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Rooman Technologies  |  Cybersecurity Internship  |  Phase 3 — Present  |  Results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— Key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206240" cy="1188720"/>
          </a:xfrm>
          <a:prstGeom prst="rect">
            <a:avLst/>
          </a:prstGeom>
          <a:solidFill>
            <a:srgbClr val="1F3A5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502920" cy="1188720"/>
          </a:xfrm>
          <a:prstGeom prst="rect">
            <a:avLst/>
          </a:prstGeom>
          <a:solidFill>
            <a:srgbClr val="2E75B6">
              <a:alpha val="2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1887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85953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Licensing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188720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IOS requires the securityk9 package before crypto commands are available — real-world routers need proper licensing.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206240" cy="1188720"/>
          </a:xfrm>
          <a:prstGeom prst="rect">
            <a:avLst/>
          </a:prstGeom>
          <a:solidFill>
            <a:srgbClr val="1F3A5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804672"/>
            <a:ext cx="502920" cy="1188720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1887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9240" y="85953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Negotiation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1188720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 Phase 1 secures the key exchange channel; Phase 2 protects the data. Both must succeed for the tunnel to work.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130552"/>
            <a:ext cx="4206240" cy="1188720"/>
          </a:xfrm>
          <a:prstGeom prst="rect">
            <a:avLst/>
          </a:prstGeom>
          <a:solidFill>
            <a:srgbClr val="1F3A5F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130552"/>
            <a:ext cx="502920" cy="1188720"/>
          </a:xfrm>
          <a:prstGeom prst="rect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25146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18541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Before VPN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514600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routing must be fully working before VPN is applied — troubleshooting the VPN with broken routing wastes time.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130552"/>
            <a:ext cx="4206240" cy="1188720"/>
          </a:xfrm>
          <a:prstGeom prst="rect">
            <a:avLst/>
          </a:prstGeom>
          <a:solidFill>
            <a:srgbClr val="1F3A5F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130552"/>
            <a:ext cx="502920" cy="1188720"/>
          </a:xfrm>
          <a:prstGeom prst="rect">
            <a:avLst/>
          </a:prstGeom>
          <a:solidFill>
            <a:srgbClr val="F4A261">
              <a:alpha val="2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25146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218541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PSK Must Match Exactly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2514600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MM_NO_STATE error occurs when pre-shared keys don't match. Case-sensitive — ROOMAN@VPN must be identical on both ends.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456432"/>
            <a:ext cx="4206240" cy="1188720"/>
          </a:xfrm>
          <a:prstGeom prst="rect">
            <a:avLst/>
          </a:prstGeom>
          <a:solidFill>
            <a:srgbClr val="1F3A5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456432"/>
            <a:ext cx="502920" cy="1188720"/>
          </a:xfrm>
          <a:prstGeom prst="rect">
            <a:avLst/>
          </a:prstGeom>
          <a:solidFill>
            <a:srgbClr val="FF6B6B">
              <a:alpha val="2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38404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351129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Map Interface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3840480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crypto map must be applied to the WAN (outgoing) interface — HO Gi0/1 and DC Gi0/0. Wrong interface = no tunnel.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456432"/>
            <a:ext cx="4206240" cy="1188720"/>
          </a:xfrm>
          <a:prstGeom prst="rect">
            <a:avLst/>
          </a:prstGeom>
          <a:solidFill>
            <a:srgbClr val="1F3A5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456432"/>
            <a:ext cx="502920" cy="1188720"/>
          </a:xfrm>
          <a:prstGeom prst="rect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8404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9240" y="351129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Interesting Traffic ACL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3840480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ACL defines what goes through the VPN. HO→DC and DC→HO must both be defined as mirror images of each other.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Rooman Technologies  |  Cybersecurity Internship  |  Phase 3 — Present  |  Lessons Learned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 &amp; Next Steps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97480" cy="1783080"/>
          </a:xfrm>
          <a:prstGeom prst="rect">
            <a:avLst/>
          </a:prstGeom>
          <a:solidFill>
            <a:srgbClr val="1F3A5F"/>
          </a:solidFill>
          <a:ln w="19050">
            <a:solidFill>
              <a:srgbClr val="2E75B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9875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IKEv2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57276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efficient, built-in NAT traversal, EAP auth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822960"/>
            <a:ext cx="2697480" cy="1783080"/>
          </a:xfrm>
          <a:prstGeom prst="rect">
            <a:avLst/>
          </a:prstGeom>
          <a:solidFill>
            <a:srgbClr val="1F3A5F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0058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86200" y="9875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 Certificates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37560" y="157276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PSK with CA-signed certs for scalability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80760" y="822960"/>
            <a:ext cx="2697480" cy="1783080"/>
          </a:xfrm>
          <a:prstGeom prst="rect">
            <a:avLst/>
          </a:prstGeom>
          <a:solidFill>
            <a:srgbClr val="1F3A5F"/>
          </a:solidFill>
          <a:ln w="19050">
            <a:solidFill>
              <a:srgbClr val="00C89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66560" y="9875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 over IPSec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217920" y="157276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OSPF/EIGRP routing protocols over the VPN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20040" y="2788920"/>
            <a:ext cx="2697480" cy="1783080"/>
          </a:xfrm>
          <a:prstGeom prst="rect">
            <a:avLst/>
          </a:prstGeom>
          <a:solidFill>
            <a:srgbClr val="1F3A5F"/>
          </a:solidFill>
          <a:ln w="19050">
            <a:solidFill>
              <a:srgbClr val="F4A26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7180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29535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 Firewall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353872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ACLs to restrict intra-VPN traffic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200400" y="2788920"/>
            <a:ext cx="2697480" cy="1783080"/>
          </a:xfrm>
          <a:prstGeom prst="rect">
            <a:avLst/>
          </a:prstGeom>
          <a:solidFill>
            <a:srgbClr val="1F3A5F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97180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86200" y="29535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/ Redundancy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337560" y="353872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ISP links + HSRP for zero downtime VPN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080760" y="2788920"/>
            <a:ext cx="2697480" cy="1783080"/>
          </a:xfrm>
          <a:prstGeom prst="rect">
            <a:avLst/>
          </a:prstGeom>
          <a:solidFill>
            <a:srgbClr val="1F3A5F"/>
          </a:solidFill>
          <a:ln w="19050">
            <a:solidFill>
              <a:srgbClr val="FF6B6B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971800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66560" y="29535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Integration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217920" y="353872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IPSec logs to security monitoring platform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Rooman Technologies  |  Cybersecurity Internship  |  Phase 3 — Present  |  Future Scope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Successfully Completed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0" y="2331720"/>
            <a:ext cx="548640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542032"/>
            <a:ext cx="1828800" cy="841248"/>
          </a:xfrm>
          <a:prstGeom prst="rect">
            <a:avLst/>
          </a:prstGeom>
          <a:solidFill>
            <a:srgbClr val="1F3A5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786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QM_IDLE ACTIVE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990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Tunnel State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2542032"/>
            <a:ext cx="1828800" cy="841248"/>
          </a:xfrm>
          <a:prstGeom prst="rect">
            <a:avLst/>
          </a:prstGeom>
          <a:solidFill>
            <a:srgbClr val="1F3A5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25786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pkts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97480" y="2990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Encrypted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542032"/>
            <a:ext cx="1828800" cy="841248"/>
          </a:xfrm>
          <a:prstGeom prst="rect">
            <a:avLst/>
          </a:prstGeom>
          <a:solidFill>
            <a:srgbClr val="1F3A5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5786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pkts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2990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Decrypted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29400" y="2542032"/>
            <a:ext cx="1828800" cy="841248"/>
          </a:xfrm>
          <a:prstGeom prst="rect">
            <a:avLst/>
          </a:prstGeom>
          <a:solidFill>
            <a:srgbClr val="1F3A5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5786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29400" y="2990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Packet Loss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Nithin Nayaka V N  |  Cybersecurity Internship  |  Rooman Technologies  |  May 2026</a:t>
            </a:r>
            <a:endParaRPr lang="en-US" sz="13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1605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IPSec VPN – Phase 3: Present</dc:title>
  <dc:subject>PptxGenJS Presentation</dc:subject>
  <dc:creator>Nithin Nayaka V N</dc:creator>
  <cp:lastModifiedBy>Nithin Nayaka V N</cp:lastModifiedBy>
  <cp:revision>1</cp:revision>
  <dcterms:created xsi:type="dcterms:W3CDTF">2026-05-06T19:22:12Z</dcterms:created>
  <dcterms:modified xsi:type="dcterms:W3CDTF">2026-05-06T19:22:12Z</dcterms:modified>
</cp:coreProperties>
</file>